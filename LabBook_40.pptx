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89" r:id="rId6"/>
    <p:sldId id="290" r:id="rId7"/>
    <p:sldId id="291" r:id="rId8"/>
    <p:sldId id="296" r:id="rId9"/>
    <p:sldId id="297" r:id="rId10"/>
    <p:sldId id="298" r:id="rId11"/>
    <p:sldId id="292" r:id="rId12"/>
    <p:sldId id="309" r:id="rId13"/>
    <p:sldId id="293" r:id="rId14"/>
    <p:sldId id="310" r:id="rId15"/>
    <p:sldId id="311" r:id="rId16"/>
    <p:sldId id="294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288" r:id="rId28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033" autoAdjust="0"/>
  </p:normalViewPr>
  <p:slideViewPr>
    <p:cSldViewPr>
      <p:cViewPr varScale="1">
        <p:scale>
          <a:sx n="82" d="100"/>
          <a:sy n="82" d="100"/>
        </p:scale>
        <p:origin x="71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12/06/2026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AEC-015A-4808-9AC9-382D824E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FC03EDA-741F-B6F5-3444-A8D74D690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839219-55CF-753A-3C53-04F6B1E28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4B99BF-32CC-B000-CB3E-0CD66FF7C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7642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BA92-9E11-5EE6-83E2-C0CE696CF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F422CD8-2648-9E8D-63D5-4062E3A2A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6B4597A-3B2D-EE1B-D7C2-11C061ADE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4B9BC6D-33F8-157F-CA30-547CB29CA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321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1ADA-0155-5C50-50E2-B76E3894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F60257-593C-8FE1-F1B1-43FC831A4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C4C3394-4A05-C972-9758-DCF9AFA5D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09B55E-A0C6-B20F-E817-4AB4101AD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57307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80972-D31C-ECCE-520B-2E221ED9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4CBFB51-F10C-0CE1-3645-F505566C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724F068-E924-4DF8-0DCD-67D8334C3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B7930EE-C76B-B885-CE65-ACC67E56A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1261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2BF37-98F6-CD9B-2255-0A64B5CE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B68927E-2442-0553-FBC8-D3C32BCC5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6130D77-4D33-EE41-3A9E-4EB6D2419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5BAC07D-EBC4-F68A-7BE7-2B2DCCECD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431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23C3-8B13-0E32-9CF8-D9D149757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797F519-ED4E-F220-2A9C-3BCC78896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B3C02A-D0C5-676E-4303-34D4507BD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C3523D6-1461-AFE7-6F5F-A2E885B45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6095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88B3-C141-4645-2F2A-A09F4082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B22BAD8-B0CC-3164-3027-A210D7EB75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995D4B-1202-927A-28C9-66F35C33A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156FFEE-1184-FFA2-1E7F-CC9E8439A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0953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4F482-2E59-FF4B-555E-E8D1E8792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A88F64A-4ECB-B2EF-65BB-520FF3E35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7ECA6D-C4F5-471D-6FDC-D3E03C4D1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DAEE64-219B-5B4E-0564-F0492229A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13459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AF90A-4FCF-BD57-3E83-64CCBA3AB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3C8E28-6393-040A-3D67-6FB9F9025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D957D09-2ECA-F112-F5C0-19D5D6E07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9154C3-1BC9-5380-ADBE-8EEB04243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0341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9EAE7-9EAB-544B-26F0-D89AD57C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7142DDC-39F3-B8EF-C550-B1BDBF7983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14E7676-8E00-A60E-B890-D4F612C9A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8AAF8C-62CF-3619-1C70-91E48BE9A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1047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1AF3D-7EA3-C5CA-DDFF-4EEA9D18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1150F0-6DEE-600B-F501-CCC6B7438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033125-FE8A-B3B1-184F-7634A4CF5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1C692C-BA5C-1239-CFD9-BE7D9963D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85325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7D11-C433-98B9-F858-FD2AE09D1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CB725F-5C4B-4ADD-7DE8-752F8A6C2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B47CE7-E5F1-49D7-D6E0-45C6355D6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1EF30C-9AA8-D82B-A8E2-078BA1278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3241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A33C0-337A-F3C2-184F-389A23AC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947BFB0-5B2E-9EDF-7786-F981698AA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9FD84D-850F-1CCB-2148-DDD0AB666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16ABDA4-7885-0E24-F476-CB49D7FA3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932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C58FA-FCAE-ADD5-70C8-28DC0FD8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64A77E2-A1FB-2EF6-3ACA-69F2F5ED5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568D7C7-8599-A908-2636-537693E47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F51448-5EFD-D17D-E055-248F607E86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540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E5EE-2119-9C58-348E-0FFDA1821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5D11F7-7B53-46F8-3DA7-FBDD8465F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38A0EA3-CEFB-F431-DDEE-F986D4F91F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F911F7-E233-6EB0-4314-39961D5BA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5899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893CA-55DB-BD2B-E152-819B5EAE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71EBD7-9306-705E-A18F-7C7919D8E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41C093F-A629-C3DC-7974-8482617E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4F8D5F7-5DB1-BF67-4A34-01F698A91F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15181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EBC7-61AB-D99B-C265-ADEDF40E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249B60-67C4-3D45-BCBE-4A6711AD19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00CEFC-4C7B-0E16-8702-EA432900B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48345E-CF3D-8FA0-785B-906E896760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5540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D028-7E24-A9FA-4CFF-4A388D11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0B0F74E-A664-D1EA-331C-E74455FBB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8CC6AC-7C0D-89E5-0A93-49ADA7234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534546-1FC0-3B73-BA7A-667DCCDC2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6910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FEA56-BC14-5FA8-97A0-FB442222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6A26B9B-1789-4EA3-154C-58E5C835C0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4171A3-BF58-8FBE-62F6-01E3EA34B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E7AEDB-6D4A-F87F-6C64-BC9098E66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9989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D2E6-0237-D873-7C3A-D798C24D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A1D92CB-0F7C-4C4E-97B1-B4EEEED4ED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C66880-7959-6B40-7145-D720E5070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521D00-2B87-F178-35B0-EB69A8627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8953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7"/>
          <p:cNvSpPr/>
          <p:nvPr userDrawn="1"/>
        </p:nvSpPr>
        <p:spPr>
          <a:xfrm>
            <a:off x="608171" y="381001"/>
            <a:ext cx="45731" cy="6834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ítulo 8"/>
          <p:cNvSpPr>
            <a:spLocks noGrp="1"/>
          </p:cNvSpPr>
          <p:nvPr>
            <p:ph type="title" hasCustomPrompt="1"/>
          </p:nvPr>
        </p:nvSpPr>
        <p:spPr>
          <a:xfrm>
            <a:off x="736652" y="381000"/>
            <a:ext cx="7778317" cy="313782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Open Sans Extrabold" panose="020B09060308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TITULO</a:t>
            </a:r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10" hasCustomPrompt="1"/>
          </p:nvPr>
        </p:nvSpPr>
        <p:spPr>
          <a:xfrm>
            <a:off x="608171" y="1295401"/>
            <a:ext cx="11051877" cy="4958137"/>
          </a:xfrm>
        </p:spPr>
        <p:txBody>
          <a:bodyPr>
            <a:normAutofit/>
          </a:bodyPr>
          <a:lstStyle>
            <a:lvl1pPr>
              <a:defRPr sz="2400" baseline="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  <a:lvl2pPr>
              <a:defRPr sz="18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2pPr>
            <a:lvl3pPr>
              <a:defRPr sz="16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3pPr>
            <a:lvl4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4pPr>
            <a:lvl5pPr>
              <a:defRPr sz="14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s-ES" dirty="0"/>
              <a:t>Texto del contenido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23" name="Marcador de texto 22"/>
          <p:cNvSpPr>
            <a:spLocks noGrp="1"/>
          </p:cNvSpPr>
          <p:nvPr>
            <p:ph type="body" sz="quarter" idx="11" hasCustomPrompt="1"/>
          </p:nvPr>
        </p:nvSpPr>
        <p:spPr>
          <a:xfrm>
            <a:off x="736652" y="730647"/>
            <a:ext cx="7778317" cy="381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Calibri" panose="020F0502020204030204" pitchFamily="34" charset="0"/>
                <a:ea typeface="Open Sans Light" panose="020B030603050402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del artículo con una explicación corta a modo resumen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87407"/>
            <a:ext cx="1980287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4768" y="6387407"/>
            <a:ext cx="6402465" cy="303019"/>
          </a:xfrm>
          <a:prstGeom prst="rect">
            <a:avLst/>
          </a:prstGeom>
        </p:spPr>
        <p:txBody>
          <a:bodyPr vert="horz" lIns="117208" tIns="58604" rIns="117208" bIns="586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LAB 4.0. LAYOUT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31389" y="6388096"/>
            <a:ext cx="760611" cy="303019"/>
          </a:xfrm>
          <a:prstGeom prst="rect">
            <a:avLst/>
          </a:prstGeom>
          <a:solidFill>
            <a:schemeClr val="bg2"/>
          </a:solidFill>
        </p:spPr>
        <p:txBody>
          <a:bodyPr vert="horz" lIns="117208" tIns="58604" rIns="117208" bIns="58604" rtlCol="0" anchor="ctr"/>
          <a:lstStyle>
            <a:lvl1pPr algn="r">
              <a:defRPr sz="1200">
                <a:solidFill>
                  <a:srgbClr val="FF6309"/>
                </a:solidFill>
              </a:defRPr>
            </a:lvl1pPr>
          </a:lstStyle>
          <a:p>
            <a:fld id="{C2F52289-4012-4053-9770-FE82CEB9514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640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4.0. LAYOUT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scualmunoz/cifoin-lab4.git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921372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>
                <a:latin typeface="Lucida Sans"/>
                <a:cs typeface="Lucida Sans"/>
              </a:rPr>
              <a:t>Lab Book 4.0 Circuits and Compact </a:t>
            </a:r>
            <a:r>
              <a:rPr lang="es-ES" sz="3200" b="1" dirty="0" err="1">
                <a:latin typeface="Lucida Sans"/>
                <a:cs typeface="Lucida Sans"/>
              </a:rPr>
              <a:t>Models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pc="165" dirty="0">
                <a:latin typeface="Arial"/>
                <a:cs typeface="Arial"/>
              </a:rPr>
              <a:t>Student: Antonio González López y María Ros Téllez</a:t>
            </a:r>
            <a:endParaRPr lang="es-ES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3"/>
              </a:rPr>
              <a:t>https://github.com/pascualmunoz/cifoin-lab4.git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folder / repo in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Open terminal: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uv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 sync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LAYOUT_STUDENT.ipynb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kern="0" dirty="0">
              <a:solidFill>
                <a:sysClr val="windowText" lastClr="000000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LO1: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LO2: 3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LO3: 1 points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FF0000"/>
                </a:solidFill>
              </a:rPr>
              <a:t>LO4: 3 points</a:t>
            </a:r>
          </a:p>
          <a:p>
            <a:pPr algn="just"/>
            <a:endParaRPr lang="en-US" b="1" i="1" dirty="0"/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#1a – Notebook section 1. Technology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s-ES" b="0" i="1" spc="-5" dirty="0">
                <a:latin typeface="+mj-lt"/>
              </a:rPr>
              <a:t>“</a:t>
            </a:r>
            <a:r>
              <a:rPr lang="es-ES" b="0" i="1" spc="-5" dirty="0" err="1">
                <a:latin typeface="+mj-lt"/>
              </a:rPr>
              <a:t>We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will</a:t>
            </a:r>
            <a:r>
              <a:rPr lang="es-ES" b="0" i="1" spc="-5" dirty="0">
                <a:latin typeface="+mj-lt"/>
              </a:rPr>
              <a:t> </a:t>
            </a:r>
            <a:r>
              <a:rPr lang="es-ES" b="0" i="1" spc="-5" dirty="0" err="1">
                <a:latin typeface="+mj-lt"/>
              </a:rPr>
              <a:t>work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with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demo UPVfab PDK. </a:t>
            </a:r>
            <a:r>
              <a:rPr lang="es-ES" b="0" i="1" spc="-5" dirty="0" err="1">
                <a:latin typeface="+mj-lt"/>
                <a:cs typeface="Lucida Sans"/>
              </a:rPr>
              <a:t>Let's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view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the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layer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distribution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of</a:t>
            </a:r>
            <a:r>
              <a:rPr lang="es-ES" b="0" i="1" spc="-5" dirty="0">
                <a:latin typeface="+mj-lt"/>
                <a:cs typeface="Lucida Sans"/>
              </a:rPr>
              <a:t> </a:t>
            </a:r>
            <a:r>
              <a:rPr lang="es-ES" b="0" i="1" spc="-5" dirty="0" err="1">
                <a:latin typeface="+mj-lt"/>
                <a:cs typeface="Lucida Sans"/>
              </a:rPr>
              <a:t>this</a:t>
            </a:r>
            <a:r>
              <a:rPr lang="es-ES" b="0" i="1" spc="-5" dirty="0">
                <a:latin typeface="+mj-lt"/>
                <a:cs typeface="Lucida Sans"/>
              </a:rPr>
              <a:t> PDK”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Una PDK es el conjunto de capas, reglas y componentes que la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foundry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proporciona para diseñar circuitos fabricables con su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proceso.En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general, las capas representan los distintos materiales o pasos de fabricación, cada uno identificado con un número (GDS) y una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etiqueta.Para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nuestra PDK encontramos las siguientes capas: WG (1/0), la guía de onda o núcleo óptico; HEATER (4/0), los calentadores para sintonización térmica; SLAB (21/0), la losa o región parcialmente grabada; PAD (41/0), los contactos metálicos; FLOORPLAN (99/0), que delimita el área del chip; y LABEL_SETTINGS (100/0) y LABEL_INSTANCE (101/0), las capas auxiliares de etiquetado.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AE4A84-532D-D50D-F368-79FF1C11E97A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4B9AF7-5B09-CE7C-68D9-8620B8F4F607}"/>
              </a:ext>
            </a:extLst>
          </p:cNvPr>
          <p:cNvSpPr txBox="1"/>
          <p:nvPr/>
        </p:nvSpPr>
        <p:spPr>
          <a:xfrm>
            <a:off x="763342" y="2494306"/>
            <a:ext cx="4490332" cy="18056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s-ES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LAYER_VIEWS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PDK</a:t>
            </a:r>
            <a:r>
              <a:rPr lang="es-E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layer_views</a:t>
            </a:r>
            <a:endParaRPr lang="es-E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s-ES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LAYER_VIEWS</a:t>
            </a:r>
            <a:r>
              <a:rPr lang="es-E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preview_layerset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s-E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E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show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s-ES" b="0" dirty="0" err="1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s-ES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plot</a:t>
            </a:r>
            <a: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b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s-E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s-ES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s-ES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BEC3D78-C227-4F8E-7F5D-F398FB043D2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5806D5A-9C65-5DDA-AF7C-30CC28E9C38F}"/>
              </a:ext>
            </a:extLst>
          </p:cNvPr>
          <p:cNvSpPr txBox="1"/>
          <p:nvPr/>
        </p:nvSpPr>
        <p:spPr>
          <a:xfrm>
            <a:off x="7925522" y="2496339"/>
            <a:ext cx="2435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Paste </a:t>
            </a:r>
            <a:r>
              <a:rPr lang="es-ES" dirty="0" err="1"/>
              <a:t>plot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layers</a:t>
            </a:r>
            <a:r>
              <a:rPr lang="es-ES" dirty="0"/>
              <a:t> </a:t>
            </a:r>
            <a:r>
              <a:rPr lang="es-ES" dirty="0" err="1"/>
              <a:t>here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A1DFE6-76BA-98C3-A9AF-B6E1EF86C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696" y="1352477"/>
            <a:ext cx="4603440" cy="347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1758-3D0C-3510-194A-4075C73D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F925C6-A9EE-0450-6CF3-EB5E905BE7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DC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1751C67-979A-7D64-9474-F594568485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5A815B6-7BA3-E2CF-377E-EACA0F621FA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18AEC9F-5174-0EEA-5CD3-65515392F1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BE4500-9BE4-025B-9167-E8AC6466B028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es el DC (acoplador direccional) que diseñamos en el Lab2: un acoplador 2x2 basado en dos guías acopladas por proximidad, con constante de acoplamiento objetivo K = 0.5 (divisor 50/50). La longitud de acoplo se ha fijado en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L_pi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= 93.83 µm, valor de la longitud necesaria para transferir el 50 % de la potencia para ese gap y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sección.Las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dimensiones relevantes son: gap = 0.6 µm, ancho de guía W = 1.2 µm y longitud de acoplo L = 93.83 µm.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364273-7E07-9E83-F4A6-1AFD1AEFE243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C1E968B-0AE0-37CB-7468-A50896329E7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877566-4E2F-8CE5-3749-EB4B91552614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962F5F-63E6-0EEF-D1F7-C65B944DD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6872" y="1418373"/>
            <a:ext cx="3252204" cy="339907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BCB8C6B-B1F1-7ADA-43FC-704509468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145" y="1319849"/>
            <a:ext cx="4640436" cy="350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2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4D31-1289-AE9B-65AF-3B934A44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7E17DC-AA88-67B2-092E-3407B9679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MMI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E294DB4-D157-3762-B633-F40D3E244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E3E6F3-C185-0856-49FC-085988A7AD4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77412D-DC86-C939-0B83-28913EAC256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E1165D1-C945-EF94-7823-0CCE96A0A3D6}"/>
              </a:ext>
            </a:extLst>
          </p:cNvPr>
          <p:cNvSpPr txBox="1"/>
          <p:nvPr/>
        </p:nvSpPr>
        <p:spPr>
          <a:xfrm>
            <a:off x="609441" y="4860334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es el MMI 2x2 que diseñamos en el Lab2, basado en interferencia por imágenes pareadas (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paired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interference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), con constante de acoplo objetivo K = 0.5 (divisor 50/50).Las dimensiones relevantes son W_MMI = 6.6 µm y L_MMI = 34.518 µm (ancho y longitud de la región multimodo), y las posiciones de las entradas/salidas respecto al centro están a +/-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dY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= 1.2 µm. Las guías de acceso tienen un ancho de 1.0 µm y una longitud de 10 µm, conectadas al cuerpo multimodo (ancho 6.6 µm) por los cuatro puertos o1, o2 (entradas) y o3, o4 (salidas).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B7A5CA-5DBE-2794-5C5A-D08D253D2A04}"/>
              </a:ext>
            </a:extLst>
          </p:cNvPr>
          <p:cNvSpPr/>
          <p:nvPr/>
        </p:nvSpPr>
        <p:spPr>
          <a:xfrm>
            <a:off x="0" y="1418373"/>
            <a:ext cx="7979027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E679E8C-1930-970B-C826-4C01C4BA3975}"/>
              </a:ext>
            </a:extLst>
          </p:cNvPr>
          <p:cNvSpPr txBox="1"/>
          <p:nvPr/>
        </p:nvSpPr>
        <p:spPr>
          <a:xfrm>
            <a:off x="2375901" y="2494306"/>
            <a:ext cx="179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5A312DD-6CED-39FC-FDDB-554C66B3EA0C}"/>
              </a:ext>
            </a:extLst>
          </p:cNvPr>
          <p:cNvSpPr/>
          <p:nvPr/>
        </p:nvSpPr>
        <p:spPr>
          <a:xfrm>
            <a:off x="8053258" y="1435728"/>
            <a:ext cx="4130965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7EE4FA-ECE2-F92A-BDF5-31A640EEE3BB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4E6E3E-7D0C-1911-B0EC-E79754490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035" y="1512150"/>
            <a:ext cx="4130965" cy="311847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735670E-9674-E3C4-CD80-DF2A8E50C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36" y="1776054"/>
            <a:ext cx="4548609" cy="27291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31C380A-6FD3-EF48-0446-9811458A23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286" y="2344595"/>
            <a:ext cx="3524741" cy="209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10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9B969-A447-9796-9F23-09CF8A06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B8B15EF-63C0-6BD2-73C7-1B8CFD42B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MZI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315535D-CDBF-CEF9-B76B-1784DC6981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AA6C448-E561-ACBC-45C9-4FBF04DDF62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1DED448-0212-EFFA-7B35-29020D6A5F5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F4AD6CD-7562-6AC5-7049-FC253956CB9B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es el MZI 2x2 diseñado a partir de dos acopladores 2x2, usando el componente nativo mzi2x2_2x2. Se trata de un MZI balanceado, con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delta_length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= 0 µm, por lo que ambos brazos tienen la misma longitud. El componente expone los puertos del MZI original (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add_ports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y queda preparado para usarse como bloque dentro del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9EBCC8D-1651-E88E-EA1E-FF01D9D6F772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DD0CDA-965D-B68F-C68B-D51541E26B10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B48D403-8356-092B-5366-5C1E0BC992EF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A01031C-A3FB-EAA1-2C1D-42105256F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032" y="1438589"/>
            <a:ext cx="3847015" cy="330602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22A1613-6DF9-3DA9-7BA5-4AF4618035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347" y="1286589"/>
            <a:ext cx="4719557" cy="356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95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D0483-EABC-20A0-A483-EE3D2422F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5B99086-F55D-3D9F-270D-744B0E5221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#1b – Notebook section 1. Technology – </a:t>
            </a:r>
            <a:r>
              <a:rPr lang="en-US" sz="2500" dirty="0">
                <a:solidFill>
                  <a:srgbClr val="FF0000"/>
                </a:solidFill>
              </a:rPr>
              <a:t>RING RESONATOR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AEC25B-CDDF-BF22-D3F1-9F3F71ED4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37BD0C-694D-96AA-FEB1-2F631EC00E9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BAD2F26-5F10-C71B-C08D-9BF3D90B50F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2261701-BEFF-C6C7-0246-10AC66729C60}"/>
              </a:ext>
            </a:extLst>
          </p:cNvPr>
          <p:cNvSpPr txBox="1"/>
          <p:nvPr/>
        </p:nvSpPr>
        <p:spPr>
          <a:xfrm>
            <a:off x="609441" y="5022095"/>
            <a:ext cx="11199971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Este es el resonador en anillo (ring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resonator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tipo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all-pass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que diseñamos en el Lab3: un anillo acoplado por proximidad a una guía recta (bus), basado en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ring_single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. Las dimensiones relevantes son radio = 9.9 µm, gap = 0.3 µm (separación entre el anillo y la guía de acceso) y ancho de guía W = 1.2 µm. El perímetro del anillo es de aproximadamente 2·π·9.9 ≈ 75 µ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m.El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componente expone los puertos de entrada y salida de la guía bus (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add_ports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para poder conectarlo en el chip final.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89CE411-65C5-01B2-1C0C-EB80F5F2E738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9F9FE63-3BA6-4F68-3A0D-AEC6F1DD42F3}"/>
              </a:ext>
            </a:extLst>
          </p:cNvPr>
          <p:cNvSpPr/>
          <p:nvPr/>
        </p:nvSpPr>
        <p:spPr>
          <a:xfrm>
            <a:off x="6476841" y="1420406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4B7601-9098-C54D-6415-8D46450B663C}"/>
              </a:ext>
            </a:extLst>
          </p:cNvPr>
          <p:cNvSpPr txBox="1"/>
          <p:nvPr/>
        </p:nvSpPr>
        <p:spPr>
          <a:xfrm>
            <a:off x="7956912" y="2496339"/>
            <a:ext cx="2372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34F73C-6FF1-C027-8666-291CEE11E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167" y="1418373"/>
            <a:ext cx="4379414" cy="330602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6C599D5-4891-7257-BC07-CBFCE1C2C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558" y="1471655"/>
            <a:ext cx="3997288" cy="33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22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B0A8-BCE1-AF65-5AFA-79184BED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DCA2EEE-70B8-D049-D7BD-B54DCCF320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#2a – Notebook section 2. Layout Fundamentals</a:t>
            </a:r>
            <a:br>
              <a:rPr lang="en-US" sz="2500" dirty="0"/>
            </a:br>
            <a:r>
              <a:rPr lang="en-US" sz="1800" b="0" i="1" dirty="0"/>
              <a:t>“Once that we have a working 'new' component, we shall convert it into a Cell. This will allow us to have a hierarchical design”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DB8C9DA-7093-6464-A7C1-20B2A585A1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102C027-A211-C670-7EF5-D7A4650EEA9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5A66E-75F8-8688-0D68-26E0DDB3A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5C0B36B-B4BD-C242-E1BB-26DD7AC56DB0}"/>
              </a:ext>
            </a:extLst>
          </p:cNvPr>
          <p:cNvSpPr txBox="1"/>
          <p:nvPr/>
        </p:nvSpPr>
        <p:spPr>
          <a:xfrm>
            <a:off x="609441" y="4860334"/>
            <a:ext cx="11199971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Es el marco del die (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floorplan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): un rectángulo hueco que define el área del 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chip.Se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 crea con una operación booleana A−B de dos rectángulos en la capa FLOORPLAN, dando un marco de 125 µm de borde sobre un die de 5000 × 5000 µm. Incluye un puerto de referencia (</a:t>
            </a:r>
            <a:r>
              <a:rPr lang="es-ES" sz="1200" dirty="0" err="1">
                <a:latin typeface="Arial" panose="020B0604020202020204" pitchFamily="34" charset="0"/>
                <a:cs typeface="Arial" panose="020B0604020202020204" pitchFamily="34" charset="0"/>
              </a:rPr>
              <a:t>block@org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) en la esquina para anclar los demás componentes.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9364F4-A34A-5161-07CB-E12F9FFCB400}"/>
              </a:ext>
            </a:extLst>
          </p:cNvPr>
          <p:cNvSpPr/>
          <p:nvPr/>
        </p:nvSpPr>
        <p:spPr>
          <a:xfrm>
            <a:off x="1" y="1418373"/>
            <a:ext cx="7148230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A2AA3F-CE55-C50B-CB18-2C8D2061FDB9}"/>
              </a:ext>
            </a:extLst>
          </p:cNvPr>
          <p:cNvSpPr txBox="1"/>
          <p:nvPr/>
        </p:nvSpPr>
        <p:spPr>
          <a:xfrm>
            <a:off x="1531412" y="2494306"/>
            <a:ext cx="34886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Example code for</a:t>
            </a:r>
          </a:p>
          <a:p>
            <a:pPr algn="ctr"/>
            <a:r>
              <a:rPr lang="en-US" dirty="0"/>
              <a:t>“A die (chip) for a photonic layout”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DFC788C-53E2-83E7-3D9E-EBD582171C71}"/>
              </a:ext>
            </a:extLst>
          </p:cNvPr>
          <p:cNvSpPr/>
          <p:nvPr/>
        </p:nvSpPr>
        <p:spPr>
          <a:xfrm>
            <a:off x="7467600" y="1420406"/>
            <a:ext cx="4341812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44A1ED-9D94-1354-DB46-756E574E2C7E}"/>
              </a:ext>
            </a:extLst>
          </p:cNvPr>
          <p:cNvSpPr txBox="1"/>
          <p:nvPr/>
        </p:nvSpPr>
        <p:spPr>
          <a:xfrm>
            <a:off x="8483018" y="2496339"/>
            <a:ext cx="1320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Example</a:t>
            </a:r>
            <a:r>
              <a:rPr lang="es-ES" dirty="0"/>
              <a:t> die</a:t>
            </a:r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5D07B1C-E223-6D61-CE05-5E3880EC8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906" y="1494326"/>
            <a:ext cx="4236506" cy="31981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40D111C-1EAF-5BB4-DC2C-7A29C4084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59" y="1736619"/>
            <a:ext cx="6988114" cy="274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4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14974-F36F-AC3A-54A4-30EB6297E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1CAC971-0710-D36F-1BE3-181038537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DC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54E53BF6-C2FD-4429-3DD5-C087EA8753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99D463BE-BBC4-D2C9-F4F5-08A8847EEC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8677166-72BD-1F4E-6FE6-DA8F704E0ED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9290F2-C203-C687-B827-EAC9983DFAB9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9100EE-6D50-FCED-DE48-15EC9FDD2475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E7E5C27-7CDE-FE18-9195-78FE2AAD1C18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4ABED7D-90B0-8CE5-784F-6DF1011177C5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27625E-2700-6D07-C773-58C6EEC66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071" y="1587601"/>
            <a:ext cx="5104110" cy="38531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54A6D2B-7789-00BA-94C8-F3D7EF168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328" y="1640295"/>
            <a:ext cx="3724795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27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281E-4B83-CADF-E05C-2779A19E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C614703-AB72-E989-42B5-849A55E9B3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MMI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2356666-601E-2F0B-B414-AFB7213C2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6398BF1-A4DD-D652-E241-5E9DB50DD57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C070D5-9297-7D8B-73E0-DC21D7D5CE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C2352E-973A-F389-F6A1-D644E07F2E7E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92D8CBF-451B-83CB-7D64-3CD9C64B8333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AAAC818-8C43-CF5D-4DB7-21D1E6A0DEED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0254F2-3F36-2B82-F469-33464298D91B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6E28DB7-840B-1AA6-066D-41AC7A2F8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189" y="1340129"/>
            <a:ext cx="4865222" cy="48724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0383EFB-5BBF-8249-0812-779AD14C8C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3667" y="1695241"/>
            <a:ext cx="4996543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02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2D1B-106E-0171-B97A-48198C29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EA30410F-1502-4870-1324-59FD4DC0D5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MZI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353E34-F2CC-2F1B-948B-49A7C267E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8EBC588-B4DA-46E7-ED09-58E683CE7D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48D51B-4008-4EFF-0B29-769BBC16D96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2D813D8-7F8E-9449-AC43-2F68BDEAE6E3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16272B-61EE-384B-860E-6957C2B6F0ED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D036D7C-FA74-73A3-944F-C10CF2D54BB6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3D3E2E-3794-FBE9-57E6-64C14CCC5B52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934F49D-7DE3-4E38-1E59-029B1C9E7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5583" y="1674473"/>
            <a:ext cx="4140285" cy="35090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5834CB-8306-BE9C-2515-C32162919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419" y="1787431"/>
            <a:ext cx="4379414" cy="330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63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AB88-E988-4BF9-BD23-9CBA1F8A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2BB60964-A194-6395-2D61-6148F37A38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Learning outcome #2a – Notebook section 2. Layout Fundamentals – </a:t>
            </a:r>
            <a:r>
              <a:rPr lang="en-US" dirty="0">
                <a:solidFill>
                  <a:srgbClr val="FF0000"/>
                </a:solidFill>
              </a:rPr>
              <a:t>MZI</a:t>
            </a:r>
            <a:br>
              <a:rPr lang="en-US" sz="2500" dirty="0"/>
            </a:br>
            <a:r>
              <a:rPr lang="en-US" sz="1800" b="0" i="1" dirty="0"/>
              <a:t>“Use your design results from Lab2 and Lab3 to create layout instances of your designed components: DCs, MMIs, MZIs &amp; Ring Resonators” </a:t>
            </a:r>
            <a:r>
              <a:rPr lang="en-US" sz="1800" b="0" i="1" dirty="0">
                <a:solidFill>
                  <a:srgbClr val="FF0000"/>
                </a:solidFill>
                <a:sym typeface="Wingdings" pitchFamily="2" charset="2"/>
              </a:rPr>
              <a:t> Make cells for all your components</a:t>
            </a:r>
            <a:endParaRPr sz="2500" b="0" i="1" dirty="0">
              <a:solidFill>
                <a:srgbClr val="FF0000"/>
              </a:solidFill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B77B780-5450-18F7-D976-4F4A967278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937EE77-EFDB-F897-8CD8-5795594B64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8143BE8-F36C-F6EC-1318-6CF8B8033C6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2B92075-A373-44E3-09A1-B431F8A8EA52}"/>
              </a:ext>
            </a:extLst>
          </p:cNvPr>
          <p:cNvSpPr/>
          <p:nvPr/>
        </p:nvSpPr>
        <p:spPr>
          <a:xfrm>
            <a:off x="609441" y="1418373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74FDEF3-6D14-AF83-45A4-5B4821F9A1A1}"/>
              </a:ext>
            </a:extLst>
          </p:cNvPr>
          <p:cNvSpPr txBox="1"/>
          <p:nvPr/>
        </p:nvSpPr>
        <p:spPr>
          <a:xfrm>
            <a:off x="2063316" y="2494306"/>
            <a:ext cx="242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Component as cell code</a:t>
            </a:r>
          </a:p>
          <a:p>
            <a:pPr algn="ctr"/>
            <a:endParaRPr lang="en-U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42CD564-8BCC-6A43-3473-75E24F9786D3}"/>
              </a:ext>
            </a:extLst>
          </p:cNvPr>
          <p:cNvSpPr/>
          <p:nvPr/>
        </p:nvSpPr>
        <p:spPr>
          <a:xfrm>
            <a:off x="6476841" y="1420406"/>
            <a:ext cx="5332571" cy="4751794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0AD4297-BF49-5DB3-E860-DD6EE88B4F7F}"/>
              </a:ext>
            </a:extLst>
          </p:cNvPr>
          <p:cNvSpPr txBox="1"/>
          <p:nvPr/>
        </p:nvSpPr>
        <p:spPr>
          <a:xfrm>
            <a:off x="7644330" y="2496339"/>
            <a:ext cx="299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Component</a:t>
            </a:r>
            <a:r>
              <a:rPr lang="es-ES" dirty="0"/>
              <a:t> as </a:t>
            </a:r>
            <a:r>
              <a:rPr lang="es-ES" dirty="0" err="1"/>
              <a:t>cell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096578-E73D-87BF-4BD7-E3D1A8961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863109"/>
            <a:ext cx="4953000" cy="37812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47A25E3-611F-6A1D-196C-C464FAE666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586" y="1718402"/>
            <a:ext cx="4531973" cy="342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56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463A-FEB0-DAC2-C592-982AED78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D9825A0-3864-7B82-F4C0-6912BF1AE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Notebook section 3. Complete layout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DEB6AD1-A7A1-CBBC-33E2-C1A03F2E3E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0F7002D-478B-4959-3169-5E518898EB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305F97E-3B7E-8203-F806-FFA5E41962D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187553-D412-F56C-DD26-11B2C97C2B31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s-ES" sz="12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block 1: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crea el componente principal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y se añade el die (die(...) con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dieW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=5000 y capa FLOORPLAN) como referencia. Este die aporta el marco del chip y el puerto de anclaje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block@org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endParaRPr lang="es-ES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s-ES" sz="12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block 2: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instancia un MMI 1x2 de prueba (cells.mmi1x2()) y se coloca dentro del die, centrado en X (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block@org.dx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+ 0.5·dieW) y desplazado 150 µm en Y respecto al punto de origen.</a:t>
            </a:r>
          </a:p>
          <a:p>
            <a:pPr>
              <a:buNone/>
            </a:pPr>
            <a:endParaRPr lang="es-ES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s-ES" sz="12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block 3: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añaden las guías de entrada/salida (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straight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 500 µm) en los bordes del die.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entra por la izquierda alineada con o1; strout1 y strout2 se rotan 180° y se colocan en el borde derecho (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dmovex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dieW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)), alineadas con las salidas o3 y o2 del MMI. Sirven para "cortar" en un tramo recto.</a:t>
            </a:r>
          </a:p>
          <a:p>
            <a:pPr>
              <a:buNone/>
            </a:pPr>
            <a:endParaRPr lang="es-ES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Python </a:t>
            </a:r>
            <a:r>
              <a:rPr lang="es-ES" sz="1200" b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r>
              <a:rPr lang="es-ES" sz="12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block 4: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Se </a:t>
            </a:r>
            <a:r>
              <a:rPr lang="es-ES" sz="1200" dirty="0">
                <a:latin typeface="Arial" panose="020B0604020202020204" pitchFamily="34" charset="0"/>
                <a:cs typeface="Arial" panose="020B0604020202020204" pitchFamily="34" charset="0"/>
              </a:rPr>
              <a:t>enrutan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las guías al MMI mediante curvas S (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route_single_sbend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): conecta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o1 (entrada), o2 → strout2 y o3 → strout1 (salidas). Finalmente,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main.plot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y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main.show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visualizan el </a:t>
            </a:r>
            <a:r>
              <a:rPr lang="es-ES" sz="12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</a:t>
            </a:r>
            <a:r>
              <a:rPr lang="es-ES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completo.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B67F4D-126C-4796-4E73-E68F0F3CB6B3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F5FE71-3005-DD28-5A06-1330678AD855}"/>
              </a:ext>
            </a:extLst>
          </p:cNvPr>
          <p:cNvSpPr txBox="1"/>
          <p:nvPr/>
        </p:nvSpPr>
        <p:spPr>
          <a:xfrm>
            <a:off x="7663860" y="3105834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Complete </a:t>
            </a:r>
            <a:r>
              <a:rPr lang="es-ES" dirty="0" err="1"/>
              <a:t>layout</a:t>
            </a:r>
            <a:r>
              <a:rPr lang="es-ES" dirty="0"/>
              <a:t> </a:t>
            </a:r>
            <a:r>
              <a:rPr lang="es-ES" dirty="0" err="1"/>
              <a:t>screenshot</a:t>
            </a:r>
            <a:endParaRPr lang="es-ES" dirty="0"/>
          </a:p>
          <a:p>
            <a:pPr algn="ctr"/>
            <a:r>
              <a:rPr lang="es-ES" dirty="0"/>
              <a:t> </a:t>
            </a:r>
            <a:r>
              <a:rPr lang="es-ES" dirty="0" err="1"/>
              <a:t>screenshot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BD120DB-3CBC-E3C6-B65B-EDF5D47A9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3233" y="1295400"/>
            <a:ext cx="5400304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1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4697-E71C-AE1A-B1C3-F0699DB5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4B5295-DC95-1B9D-323B-0A9CBAA48A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A1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28729FC-67DD-ADDF-C634-B88B866C7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EC3B9D8-6853-FC61-28AF-8D6A8D5A43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188C3D-FAC8-AFDC-C8BB-B9B7464668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C7B9612-6538-995B-BA53-B027271C8FB7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BEF67B-C9BC-855A-58A1-FA581978756D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9A5AC9-4AC0-1A49-AAF7-341EEB63FF71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4ED7D5-8AF2-DB73-6EA5-1EBD227E6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963" y="1283339"/>
            <a:ext cx="5317672" cy="401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2A4FA1-B847-C561-E5BF-3C44FE489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042" y="1717558"/>
            <a:ext cx="5839640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311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D8A2E-157D-9F34-F23B-58D04138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9C17BA85-68A3-BD5A-33D9-A1FE4985B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A2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41F3AFF-9D0C-DA12-B017-C625701FF6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63A8EF6-D2CD-DFB9-4C7F-72E84E876F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C1EAE2-47EF-E83D-CD98-CAF9B72DC4A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A2B18F3-042B-0A25-E3CB-0002E7A30549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364E0B-A1F1-CCA4-C76B-50AF72286F67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FECF6-CED9-84B2-053C-DBB8A7178BE6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A1B9F18-D83F-F113-25A4-3F0D79561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556" y="1417900"/>
            <a:ext cx="6005945" cy="45339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EADBB3A-6A39-876D-79FD-7552F473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39" y="1312794"/>
            <a:ext cx="5858693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349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0EA3-18A4-3C81-8342-2B16ED40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B5704F52-4151-329F-FF2F-5FC118CDA9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A3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1127E7F-2272-6C57-EA4C-388712444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4CA664E-0DA0-8609-8967-D173A49506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6CDF269-EBB6-509A-0120-00A80DBDCDF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ED91249-5290-7053-F48E-977CA5F0E8D1}"/>
              </a:ext>
            </a:extLst>
          </p:cNvPr>
          <p:cNvSpPr txBox="1"/>
          <p:nvPr/>
        </p:nvSpPr>
        <p:spPr>
          <a:xfrm>
            <a:off x="685799" y="990600"/>
            <a:ext cx="7241859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D3FDC70-8C2C-EC44-DB38-3BAC75407C05}"/>
              </a:ext>
            </a:extLst>
          </p:cNvPr>
          <p:cNvSpPr/>
          <p:nvPr/>
        </p:nvSpPr>
        <p:spPr>
          <a:xfrm>
            <a:off x="8077200" y="990285"/>
            <a:ext cx="4038600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F010F9-C383-B1BC-1E60-27AA3A558927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1A1839-E596-1DEC-8D34-62DF4A222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274" y="1940889"/>
            <a:ext cx="3942526" cy="29762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44710BF-014C-09AF-CEEB-46513D91D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7" y="1151066"/>
            <a:ext cx="4491590" cy="46482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6A1D7BB-7320-7326-5C89-6431F9884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9365" y="2285369"/>
            <a:ext cx="3421250" cy="26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415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8F1F-8292-425C-32D6-EA09EA72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E2F2E6F-8B81-4198-76BE-01A8244FA6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A4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AB5384-0CF2-DD02-2208-0779C246A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55AB5F4-E31A-D883-31CD-D993B80BB5C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297A675-7661-315F-152C-DF3E1959190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0EBEF75-991C-743A-B9C7-F98FEB54884D}"/>
              </a:ext>
            </a:extLst>
          </p:cNvPr>
          <p:cNvSpPr txBox="1"/>
          <p:nvPr/>
        </p:nvSpPr>
        <p:spPr>
          <a:xfrm>
            <a:off x="685799" y="990600"/>
            <a:ext cx="7241859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5CCBC8-913B-A008-5D41-95BE9AE0FABB}"/>
              </a:ext>
            </a:extLst>
          </p:cNvPr>
          <p:cNvSpPr/>
          <p:nvPr/>
        </p:nvSpPr>
        <p:spPr>
          <a:xfrm>
            <a:off x="8077200" y="990285"/>
            <a:ext cx="4038600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8B00F4-43CF-3684-9967-F4C15CB662F9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335822-2821-9DD4-147A-771565DF3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256" y="2098513"/>
            <a:ext cx="3830344" cy="289153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6CE3AE5-BB86-C085-9033-4A3362C40B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886"/>
          <a:stretch>
            <a:fillRect/>
          </a:stretch>
        </p:blipFill>
        <p:spPr>
          <a:xfrm>
            <a:off x="685799" y="1372634"/>
            <a:ext cx="3861319" cy="434329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843F5D5-C156-26EC-5C20-9EC612CC5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2367" y="2286000"/>
            <a:ext cx="357199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54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0CB16-6CA7-67F5-EB58-1DE3003E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17EFE58-3EE3-1674-C5BE-4656405E3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A5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37DC4DE-0758-0A70-2EDD-3DDCADD54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99615F8D-D992-CFE2-CE80-09E5C3A535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A2DDE7D-B131-2122-4F63-7B7B964DFE7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C3CA4B9-1BCE-3271-34DF-5AC92E789C62}"/>
              </a:ext>
            </a:extLst>
          </p:cNvPr>
          <p:cNvSpPr txBox="1"/>
          <p:nvPr/>
        </p:nvSpPr>
        <p:spPr>
          <a:xfrm>
            <a:off x="685800" y="990600"/>
            <a:ext cx="5410200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729AC5-D17E-B017-A823-AED32B1CA427}"/>
              </a:ext>
            </a:extLst>
          </p:cNvPr>
          <p:cNvSpPr/>
          <p:nvPr/>
        </p:nvSpPr>
        <p:spPr>
          <a:xfrm>
            <a:off x="6248400" y="990285"/>
            <a:ext cx="563879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8A95E87-7E00-5225-563D-B7040BBE45D3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5D4167-781A-0C73-3554-A244985B4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490604"/>
            <a:ext cx="5257799" cy="39691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997EBE6-DF78-126E-6A62-34342564F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78" y="1314863"/>
            <a:ext cx="5694824" cy="463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30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22B7-CFC6-4BD3-F390-BAF976A8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B6F76D1-1F25-4393-3DE9-C14B2A3A87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B1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4C488DD-A505-0EB1-D0E7-800FE68905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A02B88E7-81DD-846B-5802-442392B818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B44FB22-4850-9A63-4AF5-A3D1A05806F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2D5BA1-43B7-F9FC-20B3-8AFD1D4EA2E8}"/>
              </a:ext>
            </a:extLst>
          </p:cNvPr>
          <p:cNvSpPr txBox="1"/>
          <p:nvPr/>
        </p:nvSpPr>
        <p:spPr>
          <a:xfrm>
            <a:off x="228601" y="990600"/>
            <a:ext cx="7282766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4A8A8C7-332C-DFD8-4FDE-CE3F44FCBAE4}"/>
              </a:ext>
            </a:extLst>
          </p:cNvPr>
          <p:cNvSpPr/>
          <p:nvPr/>
        </p:nvSpPr>
        <p:spPr>
          <a:xfrm>
            <a:off x="7620000" y="985620"/>
            <a:ext cx="451103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C6B5FC2-7683-5BC9-B52D-ECEBD8E5AE02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9C776C-14B2-3F51-C375-40B3D70A4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574" y="2065387"/>
            <a:ext cx="4533293" cy="342219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EE014C1-D362-2A72-85E8-917D6DD47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70" y="1828800"/>
            <a:ext cx="7215897" cy="389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44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86D6-59C6-6803-A317-F18D505E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8C799C7A-01C0-D91E-2139-EAB333FFC0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B2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EEC499D-35F4-29DF-7C41-5CE880C9D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17F5AE6-2A7A-AAB2-F5FD-9BEEBC3CFC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32A146-5128-88ED-1627-DA7DD15708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38A616-4314-FBD5-3233-5030AE2EA48C}"/>
              </a:ext>
            </a:extLst>
          </p:cNvPr>
          <p:cNvSpPr txBox="1"/>
          <p:nvPr/>
        </p:nvSpPr>
        <p:spPr>
          <a:xfrm>
            <a:off x="228601" y="990600"/>
            <a:ext cx="7282766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3AACB2-6F2B-E7F8-C5A8-915AE940E87D}"/>
              </a:ext>
            </a:extLst>
          </p:cNvPr>
          <p:cNvSpPr/>
          <p:nvPr/>
        </p:nvSpPr>
        <p:spPr>
          <a:xfrm>
            <a:off x="7620000" y="985620"/>
            <a:ext cx="451103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0ED07A-1189-EFAC-66DE-8F4F9CBC25A5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2897D5-3977-6A74-1AD8-BF339C583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623548"/>
            <a:ext cx="4511382" cy="340565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181760F-6731-0279-A1AB-AEB61BF3D4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66" y="963802"/>
            <a:ext cx="6288833" cy="520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555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3E114-1E21-EAE6-29AC-BF737959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DE04CD9-15B7-75BB-1AAA-46D4F4184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B3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0B6859E-9442-774C-C462-585D72214A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FEC4947-4995-87AB-D535-A468A23516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BB7F9FE-76CD-0C5B-A436-D3ECD2044F5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00DC4CF-159B-C866-E4A8-81C8D36EAED8}"/>
              </a:ext>
            </a:extLst>
          </p:cNvPr>
          <p:cNvSpPr txBox="1"/>
          <p:nvPr/>
        </p:nvSpPr>
        <p:spPr>
          <a:xfrm>
            <a:off x="228601" y="990600"/>
            <a:ext cx="7282766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F75EE5A-A645-A9B6-7CB1-EEE34A6BC819}"/>
              </a:ext>
            </a:extLst>
          </p:cNvPr>
          <p:cNvSpPr/>
          <p:nvPr/>
        </p:nvSpPr>
        <p:spPr>
          <a:xfrm>
            <a:off x="7620000" y="985620"/>
            <a:ext cx="451103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CE5A629-AD92-E052-527D-12C574A13BD6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B1EC2E-5DFC-A217-438A-E33DB3968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99" y="2294404"/>
            <a:ext cx="4511040" cy="340539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F02DD4D-D6AD-5F75-D0A9-057DE0DE7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0" y="1104742"/>
            <a:ext cx="4787237" cy="4953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55454F7-B987-D52E-2EE3-67BF6F8F5F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3504" y="1095210"/>
            <a:ext cx="3829446" cy="108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240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4CAC-8D8D-647F-B282-B6C5DB58B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23A697C-3A37-BE77-865C-BA368B22BF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C3 Y C4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10043816-64F1-39B5-9ACD-09829D899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E80E427D-CC0F-3FFF-ADFC-5B85609C800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118A8BE-E182-0D33-E94D-0D018691A0D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CC2410-71CE-6971-F7F2-D53432A9CF8D}"/>
              </a:ext>
            </a:extLst>
          </p:cNvPr>
          <p:cNvSpPr txBox="1"/>
          <p:nvPr/>
        </p:nvSpPr>
        <p:spPr>
          <a:xfrm>
            <a:off x="228601" y="990600"/>
            <a:ext cx="7282766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B7279F-B1AF-1CAF-530A-3EDD064E04BD}"/>
              </a:ext>
            </a:extLst>
          </p:cNvPr>
          <p:cNvSpPr/>
          <p:nvPr/>
        </p:nvSpPr>
        <p:spPr>
          <a:xfrm>
            <a:off x="7620000" y="985620"/>
            <a:ext cx="451103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93AC565-A34A-C671-F4C2-C158CF2FDEC3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619167FD-D9BF-3A4A-4E23-651180884E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078"/>
          <a:stretch>
            <a:fillRect/>
          </a:stretch>
        </p:blipFill>
        <p:spPr>
          <a:xfrm>
            <a:off x="7527882" y="1436420"/>
            <a:ext cx="4587918" cy="427999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D717F6E-3365-7AF3-8625-14BDB710C7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3" y="1600200"/>
            <a:ext cx="4105244" cy="387461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7865B54-9CF2-1B42-A93A-9304C78B2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1069" y="2057400"/>
            <a:ext cx="4043767" cy="303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58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68DDE-F222-3999-C17C-095C7368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CD869812-D9B2-5A84-8562-ECFC1D1A4D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Notebook section 4. Exercises – C1</a:t>
            </a:r>
            <a:endParaRPr sz="2500" b="0" i="1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93FFD9B-A741-7206-969E-366A16B44D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EF6064F-9B8C-A5FD-4A5D-32FA682CF1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DA4C53-DA67-756A-B23E-9EB89BA057B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4.0. LAYOUT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F427ADD-586C-8E3C-027C-E53F85B691DE}"/>
              </a:ext>
            </a:extLst>
          </p:cNvPr>
          <p:cNvSpPr txBox="1"/>
          <p:nvPr/>
        </p:nvSpPr>
        <p:spPr>
          <a:xfrm>
            <a:off x="228601" y="990600"/>
            <a:ext cx="7282766" cy="51816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no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558197-4031-AB76-48D0-EF354B03A02F}"/>
              </a:ext>
            </a:extLst>
          </p:cNvPr>
          <p:cNvSpPr/>
          <p:nvPr/>
        </p:nvSpPr>
        <p:spPr>
          <a:xfrm>
            <a:off x="7620000" y="985620"/>
            <a:ext cx="4511039" cy="5181600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12541DC-5C4D-B9D7-C345-4FAD136A0636}"/>
              </a:ext>
            </a:extLst>
          </p:cNvPr>
          <p:cNvSpPr txBox="1"/>
          <p:nvPr/>
        </p:nvSpPr>
        <p:spPr>
          <a:xfrm>
            <a:off x="8180318" y="3105834"/>
            <a:ext cx="1774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 err="1"/>
              <a:t>Screenshot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…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90284B-9F58-0625-4BB2-5B34AE61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233" y="1621836"/>
            <a:ext cx="4607767" cy="347841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1B6205A-D25C-15A4-01B2-2BF755D8F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75" y="2076232"/>
            <a:ext cx="497965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156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24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750D0F23108224F90FEF5B9FC8631C3" ma:contentTypeVersion="12" ma:contentTypeDescription="Crear nuevo documento." ma:contentTypeScope="" ma:versionID="1104cd537116c8bfa69b845163253e98">
  <xsd:schema xmlns:xsd="http://www.w3.org/2001/XMLSchema" xmlns:xs="http://www.w3.org/2001/XMLSchema" xmlns:p="http://schemas.microsoft.com/office/2006/metadata/properties" xmlns:ns3="628a1654-b00c-40ae-8883-19ab0b2b6570" xmlns:ns4="c60c4169-c067-4dfc-b212-3b05d96a7ecd" targetNamespace="http://schemas.microsoft.com/office/2006/metadata/properties" ma:root="true" ma:fieldsID="d2b9e67b5497d281187a192fa1d5ee7f" ns3:_="" ns4:_="">
    <xsd:import namespace="628a1654-b00c-40ae-8883-19ab0b2b6570"/>
    <xsd:import namespace="c60c4169-c067-4dfc-b212-3b05d96a7ec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_activity" minOccurs="0"/>
                <xsd:element ref="ns4:MediaServiceSearchProperties" minOccurs="0"/>
                <xsd:element ref="ns4:MediaServiceSystemTags" minOccurs="0"/>
                <xsd:element ref="ns4:MediaServiceGenerationTime" minOccurs="0"/>
                <xsd:element ref="ns4:MediaServiceEventHashCode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8a1654-b00c-40ae-8883-19ab0b2b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0c4169-c067-4dfc-b212-3b05d96a7e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0c4169-c067-4dfc-b212-3b05d96a7ecd" xsi:nil="true"/>
  </documentManagement>
</p:properties>
</file>

<file path=customXml/itemProps1.xml><?xml version="1.0" encoding="utf-8"?>
<ds:datastoreItem xmlns:ds="http://schemas.openxmlformats.org/officeDocument/2006/customXml" ds:itemID="{1683C901-1CA3-43BA-B341-35008FAA2A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8a1654-b00c-40ae-8883-19ab0b2b6570"/>
    <ds:schemaRef ds:uri="c60c4169-c067-4dfc-b212-3b05d96a7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21B8E3-19F0-48DA-ABFB-2CD7692C61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1C088-6FB8-4AB1-AD43-D32F46F48688}">
  <ds:schemaRefs>
    <ds:schemaRef ds:uri="628a1654-b00c-40ae-8883-19ab0b2b6570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c60c4169-c067-4dfc-b212-3b05d96a7ecd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</TotalTime>
  <Words>1724</Words>
  <Application>Microsoft Office PowerPoint</Application>
  <PresentationFormat>Panorámica</PresentationFormat>
  <Paragraphs>156</Paragraphs>
  <Slides>24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Aptos</vt:lpstr>
      <vt:lpstr>Arial</vt:lpstr>
      <vt:lpstr>Calibri</vt:lpstr>
      <vt:lpstr>Consolas</vt:lpstr>
      <vt:lpstr>Lucida Sans</vt:lpstr>
      <vt:lpstr>Wingdings</vt:lpstr>
      <vt:lpstr>Office Theme</vt:lpstr>
      <vt:lpstr>Presentación de PowerPoint</vt:lpstr>
      <vt:lpstr>Instructions General</vt:lpstr>
      <vt:lpstr>Learning outcome #1a – Notebook section 1. Technology “We will work with the demo UPVfab PDK. Let's view the layer distribution of this PDK”</vt:lpstr>
      <vt:lpstr>Learning outcome #1b – Notebook section 1. Technology – DC “Use your design results from Lab2 and Lab3 to create layout instances of your designed components: DCs, MMIs, MZIs &amp; Ring Resonators”</vt:lpstr>
      <vt:lpstr>Learning outcome #1b – Notebook section 1. Technology – MMI “Use your design results from Lab2 and Lab3 to create layout instances of your designed components: DCs, MMIs, MZIs &amp; Ring Resonators”</vt:lpstr>
      <vt:lpstr>Learning outcome #1b – Notebook section 1. Technology – MZI “Use your design results from Lab2 and Lab3 to create layout instances of your designed components: DCs, MMIs, MZIs &amp; Ring Resonators”</vt:lpstr>
      <vt:lpstr>Learning outcome #1b – Notebook section 1. Technology – RING RESONATOR “Use your design results from Lab2 and Lab3 to create layout instances of your designed components: DCs, MMIs, MZIs &amp; Ring Resonators”</vt:lpstr>
      <vt:lpstr>Learning outcome #2a – Notebook section 2. Layout Fundamentals “Once that we have a working 'new' component, we shall convert it into a Cell. This will allow us to have a hierarchical design”</vt:lpstr>
      <vt:lpstr>Learning outcome #2a – Notebook section 2. Layout Fundamentals – DC “Use your design results from Lab2 and Lab3 to create layout instances of your designed components: DCs, MMIs, MZIs &amp; Ring Resonators”  Make cells for all your components</vt:lpstr>
      <vt:lpstr>Learning outcome #2a – Notebook section 2. Layout Fundamentals – MMI “Use your design results from Lab2 and Lab3 to create layout instances of your designed components: DCs, MMIs, MZIs &amp; Ring Resonators”  Make cells for all your components</vt:lpstr>
      <vt:lpstr>Learning outcome #2a – Notebook section 2. Layout Fundamentals – MZI “Use your design results from Lab2 and Lab3 to create layout instances of your designed components: DCs, MMIs, MZIs &amp; Ring Resonators”  Make cells for all your components</vt:lpstr>
      <vt:lpstr>Learning outcome #2a – Notebook section 2. Layout Fundamentals – MZI “Use your design results from Lab2 and Lab3 to create layout instances of your designed components: DCs, MMIs, MZIs &amp; Ring Resonators”  Make cells for all your components</vt:lpstr>
      <vt:lpstr>Learning outcome #3 – Notebook section 3. Complete layout</vt:lpstr>
      <vt:lpstr>Learning outcome #4 – Notebook section 4. Exercises – A1</vt:lpstr>
      <vt:lpstr>Learning outcome #4 – Notebook section 4. Exercises – A2</vt:lpstr>
      <vt:lpstr>Learning outcome #4 – Notebook section 4. Exercises – A3</vt:lpstr>
      <vt:lpstr>Learning outcome #4 – Notebook section 4. Exercises – A4</vt:lpstr>
      <vt:lpstr>Learning outcome #4 – Notebook section 4. Exercises – A5</vt:lpstr>
      <vt:lpstr>Learning outcome #4 – Notebook section 4. Exercises – B1</vt:lpstr>
      <vt:lpstr>Learning outcome #4 – Notebook section 4. Exercises – B2</vt:lpstr>
      <vt:lpstr>Learning outcome #4 – Notebook section 4. Exercises – B3</vt:lpstr>
      <vt:lpstr>Learning outcome #4 – Notebook section 4. Exercises – C3 Y C4</vt:lpstr>
      <vt:lpstr>Learning outcome #4 – Notebook section 4. Exercises – C1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Antonio Gonzalez Lopez</cp:lastModifiedBy>
  <cp:revision>27</cp:revision>
  <dcterms:created xsi:type="dcterms:W3CDTF">2025-01-27T02:46:57Z</dcterms:created>
  <dcterms:modified xsi:type="dcterms:W3CDTF">2026-06-12T13:16:23Z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  <property fmtid="{D5CDD505-2E9C-101B-9397-08002B2CF9AE}" pid="5" name="ContentTypeId">
    <vt:lpwstr>0x0101007750D0F23108224F90FEF5B9FC8631C3</vt:lpwstr>
  </property>
</Properties>
</file>